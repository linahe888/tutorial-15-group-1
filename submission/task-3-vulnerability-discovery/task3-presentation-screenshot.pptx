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9" r:id="rId6"/>
    <p:sldId id="261" r:id="rId7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3" autoAdjust="0"/>
    <p:restoredTop sz="94694" autoAdjust="0"/>
  </p:normalViewPr>
  <p:slideViewPr>
    <p:cSldViewPr snapToGrid="0" snapToObjects="1" showGuides="1">
      <p:cViewPr varScale="1">
        <p:scale>
          <a:sx n="161" d="100"/>
          <a:sy n="161" d="100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 panose="020B0604020202090204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 panose="020B0604020202090204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 panose="020B0604020202090204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 panose="020B0604020202090204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 panose="020B0604020202090204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 panose="020B0604020202090204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 panose="020B0604020202090204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8.xml"/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8.xml"/><Relationship Id="rId2" Type="http://schemas.openxmlformats.org/officeDocument/2006/relationships/image" Target="../media/image4.png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740"/>
            <a:ext cx="8418830" cy="857250"/>
          </a:xfrm>
        </p:spPr>
        <p:txBody>
          <a:bodyPr>
            <a:normAutofit fontScale="90000"/>
          </a:bodyPr>
          <a:lstStyle/>
          <a:p>
            <a:pPr marL="0" lvl="0" indent="0">
              <a:buNone/>
            </a:pPr>
            <a:r>
              <a:t>Task 3 — </a:t>
            </a:r>
            <a:r>
              <a:rPr lang="en-US" altLang="zh-CN"/>
              <a:t>Complete Vulnerability Chain Analysi</a:t>
            </a:r>
            <a:r>
              <a:rPr lang="en-US" altLang="zh-CN"/>
              <a:t>s</a:t>
            </a:r>
            <a:endParaRPr lang="en-US" altLang="zh-C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sz="1800" b="1"/>
              <a:t>Primary finding</a:t>
            </a:r>
            <a:endParaRPr sz="1800" b="1"/>
          </a:p>
          <a:p>
            <a:pPr lvl="0"/>
            <a:r>
              <a:rPr sz="1800"/>
              <a:t>The app uses </a:t>
            </a:r>
            <a:r>
              <a:rPr sz="1800">
                <a:latin typeface="Courier"/>
              </a:rPr>
              <a:t>java.util.Random</a:t>
            </a:r>
            <a:r>
              <a:rPr sz="1800"/>
              <a:t> to generate a </a:t>
            </a:r>
            <a:r>
              <a:rPr sz="1800" b="1"/>
              <a:t>security-sensitive session token</a:t>
            </a:r>
            <a:r>
              <a:rPr sz="1800"/>
              <a:t> after login.</a:t>
            </a:r>
            <a:endParaRPr sz="1800"/>
          </a:p>
          <a:p>
            <a:pPr lvl="0"/>
            <a:r>
              <a:rPr sz="1800"/>
              <a:t>The token is stored as </a:t>
            </a:r>
            <a:r>
              <a:rPr sz="1800">
                <a:latin typeface="Courier"/>
              </a:rPr>
              <a:t>sessionToken</a:t>
            </a:r>
            <a:r>
              <a:rPr sz="1800"/>
              <a:t> in </a:t>
            </a:r>
            <a:r>
              <a:rPr sz="1800">
                <a:latin typeface="Courier"/>
              </a:rPr>
              <a:t>SessionPrefs</a:t>
            </a:r>
            <a:r>
              <a:rPr sz="1800"/>
              <a:t>.</a:t>
            </a:r>
            <a:endParaRPr sz="1800"/>
          </a:p>
          <a:p>
            <a:pPr lvl="0"/>
            <a:r>
              <a:rPr sz="1800"/>
              <a:t>Because </a:t>
            </a:r>
            <a:r>
              <a:rPr sz="1800">
                <a:latin typeface="Courier"/>
              </a:rPr>
              <a:t>java.util.Random</a:t>
            </a:r>
            <a:r>
              <a:rPr sz="1800"/>
              <a:t> is not cryptographically secure, the session state is predictable in principle.</a:t>
            </a:r>
            <a:endParaRPr sz="1800"/>
          </a:p>
          <a:p>
            <a:pPr marL="0" lvl="0" indent="0">
              <a:spcBef>
                <a:spcPts val="3000"/>
              </a:spcBef>
              <a:buNone/>
            </a:pPr>
            <a:r>
              <a:rPr sz="1800" b="1"/>
              <a:t>Affected logic</a:t>
            </a:r>
            <a:endParaRPr sz="1800" b="1"/>
          </a:p>
          <a:p>
            <a:pPr lvl="0"/>
            <a:r>
              <a:rPr sz="1800">
                <a:latin typeface="Courier"/>
              </a:rPr>
              <a:t>checkCredentials()</a:t>
            </a:r>
            <a:endParaRPr sz="1800">
              <a:latin typeface="Courier"/>
            </a:endParaRPr>
          </a:p>
          <a:p>
            <a:pPr lvl="0"/>
            <a:r>
              <a:rPr sz="1800">
                <a:latin typeface="Courier"/>
              </a:rPr>
              <a:t>createSession()</a:t>
            </a:r>
            <a:endParaRPr sz="1800">
              <a:latin typeface="Courier"/>
            </a:endParaRPr>
          </a:p>
          <a:p>
            <a:pPr lvl="0"/>
            <a:r>
              <a:rPr sz="1800">
                <a:latin typeface="Courier"/>
              </a:rPr>
              <a:t>generateSessionToken()</a:t>
            </a:r>
            <a:endParaRPr sz="1800">
              <a:latin typeface="Courie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>
            <a:noAutofit/>
          </a:bodyPr>
          <a:lstStyle/>
          <a:p>
            <a:pPr marL="0" lvl="0" indent="0">
              <a:buNone/>
            </a:pPr>
            <a:r>
              <a:rPr sz="1800"/>
              <a:t>PoC Evidence 1 — Login Flow and Session Creation</a:t>
            </a:r>
            <a:endParaRPr sz="180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sz="1600" b="1"/>
              <a:t>What the code shows</a:t>
            </a:r>
            <a:endParaRPr sz="1600" b="1"/>
          </a:p>
          <a:p>
            <a:pPr lvl="0"/>
            <a:r>
              <a:rPr sz="1600">
                <a:latin typeface="Courier"/>
              </a:rPr>
              <a:t>createSession()</a:t>
            </a:r>
            <a:r>
              <a:rPr sz="1600"/>
              <a:t> is only called </a:t>
            </a:r>
            <a:r>
              <a:rPr sz="1600" b="1"/>
              <a:t>after successful credential verification</a:t>
            </a:r>
            <a:r>
              <a:rPr sz="1600"/>
              <a:t>.</a:t>
            </a:r>
            <a:endParaRPr sz="1600"/>
          </a:p>
          <a:p>
            <a:pPr lvl="0"/>
            <a:r>
              <a:rPr sz="1600"/>
              <a:t>The generated value is stored under the key </a:t>
            </a:r>
            <a:r>
              <a:rPr sz="1600">
                <a:latin typeface="Courier"/>
              </a:rPr>
              <a:t>sessionToken</a:t>
            </a:r>
            <a:r>
              <a:rPr sz="1600"/>
              <a:t>.</a:t>
            </a:r>
            <a:endParaRPr sz="1600"/>
          </a:p>
          <a:p>
            <a:pPr lvl="0"/>
            <a:r>
              <a:rPr sz="1600"/>
              <a:t>This proves the random value is part of the </a:t>
            </a:r>
            <a:r>
              <a:rPr sz="1600" b="1"/>
              <a:t>authenticated session state</a:t>
            </a:r>
            <a:r>
              <a:rPr sz="1600"/>
              <a:t>.</a:t>
            </a:r>
            <a:endParaRPr sz="1600"/>
          </a:p>
        </p:txBody>
      </p:sp>
      <p:pic>
        <p:nvPicPr>
          <p:cNvPr id="3" name="Picture 1" descr="evidence/login-flow-screenshot.jpg"/>
          <p:cNvPicPr>
            <a:picLocks noGrp="1" noChangeAspect="1"/>
          </p:cNvPicPr>
          <p:nvPr/>
        </p:nvPicPr>
        <p:blipFill>
          <a:blip r:embed="rId1"/>
          <a:stretch>
            <a:fillRect/>
          </a:stretch>
        </p:blipFill>
        <p:spPr bwMode="auto">
          <a:xfrm>
            <a:off x="3743960" y="1039495"/>
            <a:ext cx="5105400" cy="13081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" name="Picture 1" descr="evidence/create-session-screenshot.jp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743960" y="2493645"/>
            <a:ext cx="5089525" cy="97345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marL="0" lvl="0" indent="0">
              <a:buNone/>
            </a:pPr>
            <a:r>
              <a:rPr sz="1800"/>
              <a:t>PoC Evidence 2 — Weak Token Generation Logic</a:t>
            </a:r>
            <a:endParaRPr sz="180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sz="1400" b="1"/>
              <a:t>What the code shows</a:t>
            </a:r>
            <a:endParaRPr sz="1400" b="1"/>
          </a:p>
          <a:p>
            <a:pPr lvl="0"/>
            <a:r>
              <a:rPr sz="1400">
                <a:latin typeface="Courier"/>
              </a:rPr>
              <a:t>generateSessionToken()</a:t>
            </a:r>
            <a:r>
              <a:rPr sz="1400"/>
              <a:t> uses </a:t>
            </a:r>
            <a:r>
              <a:rPr sz="1400">
                <a:latin typeface="Courier"/>
              </a:rPr>
              <a:t>new Random()</a:t>
            </a:r>
            <a:r>
              <a:rPr sz="1400"/>
              <a:t> and </a:t>
            </a:r>
            <a:r>
              <a:rPr sz="1400">
                <a:latin typeface="Courier"/>
              </a:rPr>
              <a:t>nextInt(62)</a:t>
            </a:r>
            <a:r>
              <a:rPr sz="1400"/>
              <a:t> over 16 iterations.</a:t>
            </a:r>
            <a:endParaRPr sz="1400"/>
          </a:p>
          <a:p>
            <a:pPr lvl="0"/>
            <a:r>
              <a:rPr sz="1400"/>
              <a:t>This is a </a:t>
            </a:r>
            <a:r>
              <a:rPr sz="1400" b="1"/>
              <a:t>predictable PRNG</a:t>
            </a:r>
            <a:r>
              <a:rPr sz="1400"/>
              <a:t>, not a cryptographically secure random source.</a:t>
            </a:r>
            <a:endParaRPr sz="1400"/>
          </a:p>
          <a:p>
            <a:pPr lvl="0"/>
            <a:r>
              <a:rPr sz="1400"/>
              <a:t>Therefore the app uses weak randomness for a security-sensitive token.</a:t>
            </a:r>
            <a:endParaRPr sz="1400"/>
          </a:p>
        </p:txBody>
      </p:sp>
      <p:pic>
        <p:nvPicPr>
          <p:cNvPr id="3" name="Picture 1" descr="evidence/generate-session-token-screenshot.jpg"/>
          <p:cNvPicPr>
            <a:picLocks noGrp="1" noChangeAspect="1"/>
          </p:cNvPicPr>
          <p:nvPr/>
        </p:nvPicPr>
        <p:blipFill>
          <a:blip r:embed="rId1"/>
          <a:stretch>
            <a:fillRect/>
          </a:stretch>
        </p:blipFill>
        <p:spPr bwMode="auto">
          <a:xfrm>
            <a:off x="3581400" y="1384300"/>
            <a:ext cx="5105400" cy="11049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" name="Picture 1" descr="evidence/complete-vulnerability-chain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3211195"/>
            <a:ext cx="8229600" cy="5842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marL="0" lvl="0" indent="0">
              <a:buNone/>
            </a:pPr>
            <a:r>
              <a:rPr sz="1800"/>
              <a:t>Security Impact and Remediation</a:t>
            </a:r>
            <a:endParaRPr sz="180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>
            <a:noAutofit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sz="1200" b="1"/>
              <a:t>Impact</a:t>
            </a:r>
            <a:endParaRPr sz="1200" b="1"/>
          </a:p>
          <a:p>
            <a:pPr lvl="0"/>
            <a:r>
              <a:rPr sz="1200"/>
              <a:t>Predictable session token generation</a:t>
            </a:r>
            <a:endParaRPr sz="1200"/>
          </a:p>
          <a:p>
            <a:pPr lvl="0"/>
            <a:r>
              <a:rPr sz="1200"/>
              <a:t>Possible session forgery / session hijacking risk</a:t>
            </a:r>
            <a:endParaRPr sz="1200"/>
          </a:p>
          <a:p>
            <a:pPr lvl="0"/>
            <a:r>
              <a:rPr sz="1200"/>
              <a:t>Weak authentication integrity</a:t>
            </a:r>
            <a:endParaRPr sz="1200"/>
          </a:p>
          <a:p>
            <a:pPr lvl="0"/>
            <a:r>
              <a:rPr sz="1200"/>
              <a:t>CWE-338: Use of Cryptographically Weak PRNG</a:t>
            </a:r>
            <a:endParaRPr sz="1200"/>
          </a:p>
          <a:p>
            <a:pPr marL="0" lvl="0" indent="0">
              <a:spcBef>
                <a:spcPts val="3000"/>
              </a:spcBef>
              <a:buNone/>
            </a:pPr>
            <a:r>
              <a:rPr sz="1200" b="1"/>
              <a:t>Recommended fix</a:t>
            </a:r>
            <a:endParaRPr sz="1200" b="1"/>
          </a:p>
          <a:p>
            <a:pPr lvl="0"/>
            <a:r>
              <a:rPr sz="1200"/>
              <a:t>Replace </a:t>
            </a:r>
            <a:r>
              <a:rPr sz="1200">
                <a:latin typeface="Courier"/>
              </a:rPr>
              <a:t>new Random()</a:t>
            </a:r>
            <a:r>
              <a:rPr sz="1200"/>
              <a:t> with </a:t>
            </a:r>
            <a:r>
              <a:rPr sz="1200">
                <a:latin typeface="Courier"/>
              </a:rPr>
              <a:t>new SecureRandom()</a:t>
            </a:r>
            <a:r>
              <a:rPr sz="1200"/>
              <a:t>.</a:t>
            </a:r>
            <a:endParaRPr sz="1200"/>
          </a:p>
          <a:p>
            <a:pPr lvl="0"/>
            <a:r>
              <a:rPr sz="1200"/>
              <a:t>Keep session tokens high-entropy and unpredictable.</a:t>
            </a:r>
            <a:endParaRPr sz="1200"/>
          </a:p>
          <a:p>
            <a:pPr lvl="0"/>
            <a:r>
              <a:rPr sz="1200"/>
              <a:t>As a supporting improvement, avoid plaintext credential storage.</a:t>
            </a:r>
            <a:endParaRPr sz="120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64455" cy="41008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1485"/>
                <a:gridCol w="1721485"/>
                <a:gridCol w="1721485"/>
              </a:tblGrid>
              <a:tr h="761365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Property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Vulnerable design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Fixed design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RNG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>
                          <a:latin typeface="Courier"/>
                        </a:rPr>
                        <a:t>java.util.Random</a:t>
                      </a:r>
                      <a:endParaRPr>
                        <a:latin typeface="Courier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>
                          <a:latin typeface="Courier"/>
                        </a:rPr>
                        <a:t>SecureRandom</a:t>
                      </a:r>
                      <a:endParaRPr>
                        <a:latin typeface="Courier"/>
                      </a:endParaRPr>
                    </a:p>
                  </a:txBody>
                  <a:tcPr/>
                </a:tc>
              </a:tr>
              <a:tr h="1288415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Internal state / entropy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48-bit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128-bit+</a:t>
                      </a:r>
                    </a:p>
                  </a:txBody>
                  <a:tcPr/>
                </a:tc>
              </a:tr>
              <a:tr h="128905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Security suitability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Predictable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Cryptographically secure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1455</Words>
  <Application>WPS 文字</Application>
  <PresentationFormat/>
  <Paragraphs>61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20" baseType="lpstr">
      <vt:lpstr>Arial</vt:lpstr>
      <vt:lpstr>宋体</vt:lpstr>
      <vt:lpstr>Wingdings</vt:lpstr>
      <vt:lpstr>Arial</vt:lpstr>
      <vt:lpstr>Courier</vt:lpstr>
      <vt:lpstr>Thonburi</vt:lpstr>
      <vt:lpstr>汉仪书宋二KW</vt:lpstr>
      <vt:lpstr>Calibri</vt:lpstr>
      <vt:lpstr>Helvetica Neue</vt:lpstr>
      <vt:lpstr>微软雅黑</vt:lpstr>
      <vt:lpstr>汉仪旗黑</vt:lpstr>
      <vt:lpstr>宋体</vt:lpstr>
      <vt:lpstr>Arial Unicode MS</vt:lpstr>
      <vt:lpstr>Courier</vt:lpstr>
      <vt:lpstr>苹方-简</vt:lpstr>
      <vt:lpstr>Office Theme</vt:lpstr>
      <vt:lpstr>Task 3 — Predictable Session Token Generation</vt:lpstr>
      <vt:lpstr>PoC Evidence 1 — Login Flow and Session Creation</vt:lpstr>
      <vt:lpstr>PoC Evidence 2 — Weak Token Generation Logic</vt:lpstr>
      <vt:lpstr>Security Impact and Remediation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Task 3 — Predictable Session Token Generation</dc:title>
  <dc:creator/>
  <cp:lastModifiedBy>super egg</cp:lastModifiedBy>
  <cp:revision>9</cp:revision>
  <dcterms:created xsi:type="dcterms:W3CDTF">2026-03-27T21:11:29Z</dcterms:created>
  <dcterms:modified xsi:type="dcterms:W3CDTF">2026-03-27T21:11:29Z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E1EF9420EF6D046DC6ABC669811FE242_42</vt:lpwstr>
  </property>
  <property fmtid="{D5CDD505-2E9C-101B-9397-08002B2CF9AE}" pid="3" name="KSOProductBuildVer">
    <vt:lpwstr>2052-12.1.24031.24031</vt:lpwstr>
  </property>
</Properties>
</file>